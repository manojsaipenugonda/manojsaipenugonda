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0" r:id="rId2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63" d="100"/>
          <a:sy n="63" d="100"/>
        </p:scale>
        <p:origin x="136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17844-E438-4A49-BE95-1CD214734C22}" type="datetimeFigureOut">
              <a:rPr lang="en-US" smtClean="0"/>
              <a:pPr/>
              <a:t>10/28/2024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F4B66-1948-4087-9EFB-C6137F4A0C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265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1271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9" descr="05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0" y="1588"/>
            <a:ext cx="9144000" cy="685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111"/>
          <p:cNvSpPr txBox="1">
            <a:spLocks noChangeArrowheads="1"/>
          </p:cNvSpPr>
          <p:nvPr/>
        </p:nvSpPr>
        <p:spPr bwMode="gray">
          <a:xfrm>
            <a:off x="401638" y="6557963"/>
            <a:ext cx="8415337" cy="211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dirty="0">
                <a:solidFill>
                  <a:srgbClr val="FFFFFF"/>
                </a:solidFill>
              </a:rPr>
              <a:t>Copyright © 2007 Accenture  All Rights Reserved. Accenture, its logo, and High Performance Delivered are trademarks of Accenture.</a:t>
            </a:r>
          </a:p>
        </p:txBody>
      </p:sp>
      <p:pic>
        <p:nvPicPr>
          <p:cNvPr id="6" name="Picture 1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79400" y="2149475"/>
            <a:ext cx="3821113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Line 117"/>
          <p:cNvSpPr>
            <a:spLocks noChangeShapeType="1"/>
          </p:cNvSpPr>
          <p:nvPr/>
        </p:nvSpPr>
        <p:spPr bwMode="gray">
          <a:xfrm>
            <a:off x="0" y="3429000"/>
            <a:ext cx="9144000" cy="0"/>
          </a:xfrm>
          <a:prstGeom prst="line">
            <a:avLst/>
          </a:prstGeom>
          <a:noFill/>
          <a:ln w="12700">
            <a:solidFill>
              <a:srgbClr val="0033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200" b="1" dirty="0">
              <a:solidFill>
                <a:srgbClr val="000000"/>
              </a:solidFill>
            </a:endParaRPr>
          </a:p>
        </p:txBody>
      </p:sp>
      <p:sp>
        <p:nvSpPr>
          <p:cNvPr id="10300" name="Rectangle 60"/>
          <p:cNvSpPr>
            <a:spLocks noGrp="1" noChangeArrowheads="1"/>
          </p:cNvSpPr>
          <p:nvPr>
            <p:ph type="ctrTitle" sz="quarter"/>
          </p:nvPr>
        </p:nvSpPr>
        <p:spPr>
          <a:xfrm>
            <a:off x="2436813" y="4887913"/>
            <a:ext cx="6216650" cy="1143000"/>
          </a:xfrm>
          <a:ln w="9525"/>
        </p:spPr>
        <p:txBody>
          <a:bodyPr lIns="91440" tIns="45720" rIns="91440" bIns="45720"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301" name="Rectangle 6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52688" y="6065838"/>
            <a:ext cx="6216650" cy="514350"/>
          </a:xfrm>
          <a:ln w="9525"/>
        </p:spPr>
        <p:txBody>
          <a:bodyPr lIns="91440" tIns="45720" rIns="91440" bIns="45720"/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621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4453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2961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538" y="1028700"/>
            <a:ext cx="423545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4388" y="1028700"/>
            <a:ext cx="423545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2561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68337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80310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09407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536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5174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2178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9088" y="285750"/>
            <a:ext cx="2190750" cy="5162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075" y="285750"/>
            <a:ext cx="6424613" cy="5162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Copyright © 2008 Accenture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87549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AC Banner"/>
          <p:cNvSpPr>
            <a:spLocks noChangeArrowheads="1"/>
          </p:cNvSpPr>
          <p:nvPr/>
        </p:nvSpPr>
        <p:spPr bwMode="gray">
          <a:xfrm>
            <a:off x="0" y="0"/>
            <a:ext cx="9144000" cy="8763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200" b="1" dirty="0">
              <a:solidFill>
                <a:srgbClr val="000000"/>
              </a:solidFill>
            </a:endParaRPr>
          </a:p>
        </p:txBody>
      </p:sp>
      <p:sp>
        <p:nvSpPr>
          <p:cNvPr id="1027" name="Rectangle 29"/>
          <p:cNvSpPr>
            <a:spLocks noGrp="1" noChangeArrowheads="1"/>
          </p:cNvSpPr>
          <p:nvPr>
            <p:ph type="body" idx="1"/>
          </p:nvPr>
        </p:nvSpPr>
        <p:spPr bwMode="gray">
          <a:xfrm>
            <a:off x="236538" y="1028700"/>
            <a:ext cx="8623300" cy="4419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86" name="Rectangle 62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423863" y="6324600"/>
            <a:ext cx="44894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000" b="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Copyright © 2017 Accenture All Rights Reserved.</a:t>
            </a:r>
          </a:p>
        </p:txBody>
      </p:sp>
      <p:sp>
        <p:nvSpPr>
          <p:cNvPr id="1029" name="Rectangle 65"/>
          <p:cNvSpPr>
            <a:spLocks noGrp="1" noChangeArrowheads="1"/>
          </p:cNvSpPr>
          <p:nvPr>
            <p:ph type="title"/>
          </p:nvPr>
        </p:nvSpPr>
        <p:spPr bwMode="gray">
          <a:xfrm>
            <a:off x="1" y="0"/>
            <a:ext cx="8059738" cy="885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23" name="Text Box 99"/>
          <p:cNvSpPr txBox="1">
            <a:spLocks noChangeArrowheads="1"/>
          </p:cNvSpPr>
          <p:nvPr userDrawn="1"/>
        </p:nvSpPr>
        <p:spPr bwMode="auto">
          <a:xfrm>
            <a:off x="7635875" y="0"/>
            <a:ext cx="1508125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/>
            </a:pP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91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2pPr>
      <a:lvl3pPr marL="858838" indent="-1682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chemeClr val="tx1"/>
          </a:solidFill>
          <a:latin typeface="+mn-lt"/>
        </a:defRPr>
      </a:lvl3pPr>
      <a:lvl4pPr marL="1200150" indent="-2270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1600">
          <a:solidFill>
            <a:schemeClr val="tx1"/>
          </a:solidFill>
          <a:latin typeface="+mn-lt"/>
        </a:defRPr>
      </a:lvl4pPr>
      <a:lvl5pPr marL="1481138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n-lt"/>
        </a:defRPr>
      </a:lvl5pPr>
      <a:lvl6pPr marL="1938338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n-lt"/>
        </a:defRPr>
      </a:lvl6pPr>
      <a:lvl7pPr marL="2395538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n-lt"/>
        </a:defRPr>
      </a:lvl7pPr>
      <a:lvl8pPr marL="2852738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n-lt"/>
        </a:defRPr>
      </a:lvl8pPr>
      <a:lvl9pPr marL="3309938" indent="-1666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41001AA-D9D1-4EB1-8356-72D0E350FD4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19073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52018E3-D79E-443F-A541-580633953FD3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chemeClr val="bg1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ctr" anchorCtr="0" compatLnSpc="1">
            <a:prstTxWarp prst="textNoShape">
              <a:avLst/>
            </a:prstTxWarp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2800" b="1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3079" name="AutoShape 12"/>
          <p:cNvSpPr>
            <a:spLocks noChangeArrowheads="1"/>
          </p:cNvSpPr>
          <p:nvPr/>
        </p:nvSpPr>
        <p:spPr bwMode="auto">
          <a:xfrm>
            <a:off x="143343" y="2705301"/>
            <a:ext cx="3977814" cy="2117017"/>
          </a:xfrm>
          <a:prstGeom prst="roundRect">
            <a:avLst>
              <a:gd name="adj" fmla="val 6250"/>
            </a:avLst>
          </a:prstGeom>
          <a:solidFill>
            <a:schemeClr val="bg1">
              <a:alpha val="36078"/>
            </a:schemeClr>
          </a:solidFill>
          <a:ln w="9525" algn="ctr">
            <a:solidFill>
              <a:srgbClr val="BBBB00"/>
            </a:solidFill>
            <a:round/>
            <a:headEnd/>
            <a:tailEnd type="none" w="med" len="lg"/>
          </a:ln>
        </p:spPr>
        <p:txBody>
          <a:bodyPr lIns="73152" tIns="82296" rIns="73152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am an Advanced App Engineering Analyst trained on MERN stack, mainly on Mongo Db, Express, React and Node JS.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have been part of Splunk dashboard development team for a banking client.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am also proficient in Core Java and have moderate knowledge of Python and SQL.</a:t>
            </a:r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kern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hold a Bachelor’s degree in Electronics Engineering from Madras Institute of Technology, Anna University, Chennai.</a:t>
            </a:r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Worked on Web Application Development project using ReactJS and Java Script</a:t>
            </a:r>
            <a:r>
              <a:rPr lang="en-US" sz="1100" dirty="0"/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100" kern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sz="900" b="1" dirty="0">
              <a:solidFill>
                <a:prstClr val="black"/>
              </a:solidFill>
              <a:cs typeface="Arial" pitchFamily="34" charset="0"/>
            </a:endParaRPr>
          </a:p>
          <a:p>
            <a:pPr>
              <a:defRPr/>
            </a:pPr>
            <a:endParaRPr lang="en-IN" sz="900" dirty="0">
              <a:solidFill>
                <a:prstClr val="black"/>
              </a:solidFill>
              <a:cs typeface="Arial" pitchFamily="34" charset="0"/>
            </a:endParaRPr>
          </a:p>
          <a:p>
            <a:pPr marL="115888" indent="-115888" defTabSz="912813" eaLnBrk="0" fontAlgn="base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/>
            </a:pPr>
            <a:endParaRPr lang="en-IN" sz="800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66007"/>
            <a:ext cx="2666999" cy="799943"/>
          </a:xfrm>
        </p:spPr>
        <p:txBody>
          <a:bodyPr/>
          <a:lstStyle/>
          <a:p>
            <a:br>
              <a:rPr lang="en-US" sz="1600" dirty="0"/>
            </a:br>
            <a:endParaRPr lang="en-US" sz="1600" dirty="0">
              <a:latin typeface="Calibri" pitchFamily="34" charset="0"/>
            </a:endParaRPr>
          </a:p>
        </p:txBody>
      </p:sp>
      <p:sp>
        <p:nvSpPr>
          <p:cNvPr id="3081" name="AutoShape 14"/>
          <p:cNvSpPr>
            <a:spLocks noChangeArrowheads="1"/>
          </p:cNvSpPr>
          <p:nvPr/>
        </p:nvSpPr>
        <p:spPr bwMode="auto">
          <a:xfrm>
            <a:off x="143343" y="978267"/>
            <a:ext cx="3914775" cy="1443348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 algn="ctr">
            <a:solidFill>
              <a:srgbClr val="BBBB00"/>
            </a:solidFill>
            <a:round/>
            <a:headEnd/>
            <a:tailEnd type="none" w="med" len="lg"/>
          </a:ln>
        </p:spPr>
        <p:txBody>
          <a:bodyPr lIns="73152" tIns="82296" rIns="73152"/>
          <a:lstStyle/>
          <a:p>
            <a:pPr marL="1608138" lvl="3" eaLnBrk="0" fontAlgn="base" hangingPunct="0">
              <a:spcBef>
                <a:spcPct val="0"/>
              </a:spcBef>
              <a:spcAft>
                <a:spcPct val="0"/>
              </a:spcAft>
            </a:pPr>
            <a:endParaRPr lang="en-AU" sz="10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084" name="Footer Placeholder 3"/>
          <p:cNvSpPr txBox="1">
            <a:spLocks noGrp="1"/>
          </p:cNvSpPr>
          <p:nvPr/>
        </p:nvSpPr>
        <p:spPr bwMode="gray">
          <a:xfrm>
            <a:off x="-20618" y="6708518"/>
            <a:ext cx="6581775" cy="180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 eaLnBrk="0" fontAlgn="base" hangingPunct="0">
              <a:lnSpc>
                <a:spcPct val="80000"/>
              </a:lnSpc>
              <a:spcBef>
                <a:spcPct val="3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</a:rPr>
              <a:t>Copyright © 2024 Accenture.  All Rights Reserved.  Proprietary and Confidential Information to Accenture.</a:t>
            </a:r>
          </a:p>
        </p:txBody>
      </p:sp>
      <p:pic>
        <p:nvPicPr>
          <p:cNvPr id="16" name="Picture 1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gray">
          <a:xfrm>
            <a:off x="7343066" y="38697"/>
            <a:ext cx="1667396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80" name="Text Box 13"/>
          <p:cNvSpPr txBox="1">
            <a:spLocks noChangeArrowheads="1"/>
          </p:cNvSpPr>
          <p:nvPr/>
        </p:nvSpPr>
        <p:spPr bwMode="auto">
          <a:xfrm>
            <a:off x="222174" y="2465723"/>
            <a:ext cx="919163" cy="18288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med" len="lg"/>
          </a:ln>
        </p:spPr>
        <p:txBody>
          <a:bodyPr lIns="45720" rIns="45720"/>
          <a:lstStyle/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50000"/>
              </a:spcAft>
            </a:pPr>
            <a:r>
              <a:rPr lang="en-US" sz="1100" b="1" i="1" dirty="0">
                <a:solidFill>
                  <a:srgbClr val="61738F"/>
                </a:solidFill>
                <a:latin typeface="Calibri" pitchFamily="34" charset="0"/>
                <a:ea typeface="ＭＳ Ｐゴシック" pitchFamily="50" charset="-128"/>
              </a:rPr>
              <a:t>Background</a:t>
            </a:r>
          </a:p>
        </p:txBody>
      </p:sp>
      <p:sp>
        <p:nvSpPr>
          <p:cNvPr id="37" name="AutoShape 3"/>
          <p:cNvSpPr>
            <a:spLocks noChangeArrowheads="1"/>
          </p:cNvSpPr>
          <p:nvPr/>
        </p:nvSpPr>
        <p:spPr bwMode="auto">
          <a:xfrm>
            <a:off x="4199989" y="1313013"/>
            <a:ext cx="4879495" cy="5037962"/>
          </a:xfrm>
          <a:prstGeom prst="roundRect">
            <a:avLst>
              <a:gd name="adj" fmla="val 3218"/>
            </a:avLst>
          </a:prstGeom>
          <a:solidFill>
            <a:schemeClr val="bg1"/>
          </a:solidFill>
          <a:ln w="9525" algn="ctr">
            <a:solidFill>
              <a:srgbClr val="BBBB00"/>
            </a:solidFill>
            <a:round/>
            <a:headEnd/>
            <a:tailEnd type="none" w="med" len="lg"/>
          </a:ln>
        </p:spPr>
        <p:txBody>
          <a:bodyPr lIns="18288" tIns="82296" rIns="18288"/>
          <a:lstStyle/>
          <a:p>
            <a:pPr algn="l" rtl="0" fontAlgn="base"/>
            <a:endParaRPr lang="en-US" sz="1100" dirty="0">
              <a:solidFill>
                <a:srgbClr val="4A4A4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>
                <a:srgbClr val="000000"/>
              </a:buClr>
              <a:buFont typeface="Wingdings" panose="05000000000000000000" pitchFamily="2" charset="2"/>
              <a:buChar char="q"/>
              <a:defRPr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Experience: BYTE Prophecy, HUL (JUL 2023 – SEP 2024)</a:t>
            </a:r>
          </a:p>
          <a:p>
            <a:pPr marL="171450" indent="-171450">
              <a:buClr>
                <a:srgbClr val="000000"/>
              </a:buClr>
              <a:buFont typeface="Wingdings" panose="05000000000000000000" pitchFamily="2" charset="2"/>
              <a:buChar char="q"/>
              <a:defRPr/>
            </a:pPr>
            <a:endParaRPr lang="en-US" sz="11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Assigned Role: Advanced App Engineering Analyst</a:t>
            </a:r>
          </a:p>
          <a:p>
            <a:pPr marL="171450" indent="-171450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 :  ReactJS, CSS, HTML and Byte Platform</a:t>
            </a:r>
          </a:p>
          <a:p>
            <a:pPr>
              <a:buClr>
                <a:srgbClr val="000000"/>
              </a:buClr>
              <a:defRPr/>
            </a:pPr>
            <a:endParaRPr lang="en-US" sz="11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Performed the role of full – stack frontend developer using React, SQL.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Created data analytic application for client using the byte Platform.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have worked on developing the application using ReactJS and Configs.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have worked on CSS properties of the application which include Ag Grid, Bar chart components.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have created and worked on the Key Performance Indices(KPI) creation and widget configuration using KPI’s and Configs.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4A4A4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 rtl="0" fontAlgn="base"/>
            <a:endParaRPr lang="en-US" sz="1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>
                <a:srgbClr val="000000"/>
              </a:buClr>
              <a:buFont typeface="Wingdings" panose="05000000000000000000" pitchFamily="2" charset="2"/>
              <a:buChar char="q"/>
              <a:defRPr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 Experience</a:t>
            </a:r>
          </a:p>
          <a:p>
            <a:pPr marL="171450" indent="-171450">
              <a:buClr>
                <a:srgbClr val="000000"/>
              </a:buClr>
              <a:buFont typeface="Wingdings" panose="05000000000000000000" pitchFamily="2" charset="2"/>
              <a:buChar char="q"/>
              <a:defRPr/>
            </a:pPr>
            <a:endParaRPr lang="en-US" sz="11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Assigned Role: Advanced App Engineering Analyst</a:t>
            </a:r>
          </a:p>
          <a:p>
            <a:pPr marL="171450" indent="-171450">
              <a:buClr>
                <a:srgbClr val="000000"/>
              </a:buClr>
              <a:buFont typeface="Wingdings" panose="05000000000000000000" pitchFamily="2" charset="2"/>
              <a:buChar char="§"/>
              <a:defRPr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 :  Mongo Db, Express, React and Node JS</a:t>
            </a:r>
          </a:p>
          <a:p>
            <a:pPr algn="l" fontAlgn="base"/>
            <a:endParaRPr lang="en-US" sz="1100" b="0" i="0" dirty="0">
              <a:solidFill>
                <a:srgbClr val="494949"/>
              </a:solidFill>
              <a:effectLst/>
              <a:latin typeface="Roboto" panose="020F0502020204030204" pitchFamily="2" charset="0"/>
            </a:endParaRP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4A4A4A"/>
                </a:solidFill>
                <a:effectLst/>
                <a:latin typeface="inherit"/>
              </a:rPr>
              <a:t>I have been trained on MERN stack and I was able to develop a simple shopping cart application, to-do list app, Pizzeria delivery app and login, signup forms.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4A4A4A"/>
                </a:solidFill>
                <a:effectLst/>
                <a:latin typeface="inherit"/>
              </a:rPr>
              <a:t>I have</a:t>
            </a:r>
            <a:r>
              <a:rPr lang="en-US" sz="1100" dirty="0">
                <a:solidFill>
                  <a:srgbClr val="4A4A4A"/>
                </a:solidFill>
                <a:latin typeface="inherit"/>
              </a:rPr>
              <a:t> worked on contact manager app, in which I worked on backend part which includes Restful API, user registration, password hashing, Mongoose Schema for Contacts and JWT Authentication.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have also learned Core Java, Python and SQL and </a:t>
            </a: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1100" i="0" dirty="0">
                <a:solidFill>
                  <a:srgbClr val="4A4A4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chieved P3+ proficiency in Multiplatform </a:t>
            </a: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100" i="0" dirty="0">
                <a:solidFill>
                  <a:srgbClr val="4A4A4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ront</a:t>
            </a: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1100" i="0" dirty="0">
                <a:solidFill>
                  <a:srgbClr val="4A4A4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nd development React and P3 in Java Standard Edition and Python.</a:t>
            </a: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have worked on unit Testing using Chai.</a:t>
            </a:r>
            <a:endParaRPr lang="en-US" sz="1100" i="0" dirty="0">
              <a:solidFill>
                <a:srgbClr val="4A4A4A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0000"/>
              </a:buClr>
              <a:defRPr/>
            </a:pPr>
            <a:endParaRPr lang="en-US" sz="900" b="1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buClr>
                <a:srgbClr val="000000"/>
              </a:buCl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 marL="171450" indent="-171450">
              <a:spcBef>
                <a:spcPts val="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 marL="171450" indent="-171450">
              <a:spcBef>
                <a:spcPts val="0"/>
              </a:spcBef>
              <a:buClr>
                <a:srgbClr val="000000"/>
              </a:buClr>
              <a:buFont typeface="Arial" pitchFamily="34" charset="0"/>
              <a:buChar char="•"/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5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5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5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5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5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71450" indent="-171450">
              <a:buClr>
                <a:srgbClr val="000000"/>
              </a:buClr>
              <a:defRPr/>
            </a:pPr>
            <a:endParaRPr lang="en-US" sz="800" b="1" dirty="0">
              <a:solidFill>
                <a:srgbClr val="000000"/>
              </a:solidFill>
            </a:endParaRPr>
          </a:p>
          <a:p>
            <a:pPr marL="117475"/>
            <a:endParaRPr lang="en-US" sz="1050" dirty="0">
              <a:latin typeface="Calibri" panose="020F0502020204030204" pitchFamily="34" charset="0"/>
            </a:endParaRPr>
          </a:p>
        </p:txBody>
      </p:sp>
      <p:sp>
        <p:nvSpPr>
          <p:cNvPr id="39" name="Text Box 5"/>
          <p:cNvSpPr txBox="1">
            <a:spLocks noChangeArrowheads="1"/>
          </p:cNvSpPr>
          <p:nvPr/>
        </p:nvSpPr>
        <p:spPr bwMode="auto">
          <a:xfrm>
            <a:off x="4162860" y="1050654"/>
            <a:ext cx="2088232" cy="16854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 type="none" w="med" len="lg"/>
          </a:ln>
        </p:spPr>
        <p:txBody>
          <a:bodyPr lIns="45720" rIns="45720"/>
          <a:lstStyle/>
          <a:p>
            <a:pPr fontAlgn="base">
              <a:lnSpc>
                <a:spcPct val="85000"/>
              </a:lnSpc>
              <a:spcBef>
                <a:spcPct val="0"/>
              </a:spcBef>
              <a:spcAft>
                <a:spcPct val="50000"/>
              </a:spcAft>
            </a:pPr>
            <a:r>
              <a:rPr lang="en-US" sz="1200" b="1" i="1" dirty="0">
                <a:solidFill>
                  <a:srgbClr val="61738F"/>
                </a:solidFill>
                <a:latin typeface="Calibri" pitchFamily="34" charset="0"/>
                <a:ea typeface="ＭＳ Ｐゴシック" pitchFamily="50" charset="-128"/>
              </a:rPr>
              <a:t>Relevant Experience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66C1F4-351E-4A5B-8ACD-5081C03212BE}"/>
              </a:ext>
            </a:extLst>
          </p:cNvPr>
          <p:cNvSpPr txBox="1"/>
          <p:nvPr/>
        </p:nvSpPr>
        <p:spPr>
          <a:xfrm>
            <a:off x="222174" y="1094893"/>
            <a:ext cx="1386255" cy="525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7475"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AU" sz="1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117475" lvl="3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AU" sz="1000" dirty="0">
              <a:solidFill>
                <a:srgbClr val="000000"/>
              </a:solidFill>
            </a:endParaRP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78FD48CB-7244-4280-8DE4-1E5E45484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750" y="1009460"/>
            <a:ext cx="2530650" cy="1395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54000" anchor="ctr"/>
          <a:lstStyle/>
          <a:p>
            <a:pPr algn="l" defTabSz="585788" eaLnBrk="0" hangingPunct="0"/>
            <a:r>
              <a:rPr lang="en-US" sz="1100" b="1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MANOJ SAI PENUGONDA</a:t>
            </a:r>
          </a:p>
          <a:p>
            <a:pPr defTabSz="585788" eaLnBrk="0" hangingPunct="0"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Advanced App Engineering Analyst</a:t>
            </a:r>
          </a:p>
          <a:p>
            <a:pPr defTabSz="585788" eaLnBrk="0" hangingPunct="0"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Accenture</a:t>
            </a:r>
          </a:p>
          <a:p>
            <a:pPr defTabSz="585788" eaLnBrk="0" hangingPunct="0"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Mobile: + 91- 7095258282</a:t>
            </a:r>
          </a:p>
          <a:p>
            <a:pPr defTabSz="585788" eaLnBrk="0" hangingPunct="0"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sz="1100" u="sng" dirty="0">
                <a:solidFill>
                  <a:srgbClr val="00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manoj.sai.penugonda@accenture.com</a:t>
            </a:r>
          </a:p>
          <a:p>
            <a:pPr defTabSz="585788" eaLnBrk="0" hangingPunct="0"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Location: Chennai </a:t>
            </a:r>
          </a:p>
        </p:txBody>
      </p:sp>
      <p:sp>
        <p:nvSpPr>
          <p:cNvPr id="32" name="AutoShape 7">
            <a:extLst>
              <a:ext uri="{FF2B5EF4-FFF2-40B4-BE49-F238E27FC236}">
                <a16:creationId xmlns:a16="http://schemas.microsoft.com/office/drawing/2014/main" id="{AD0E0665-C183-40BD-8B09-8E6600A45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59" y="4964932"/>
            <a:ext cx="1657155" cy="1207268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 algn="ctr">
            <a:solidFill>
              <a:srgbClr val="BBBB00"/>
            </a:solidFill>
            <a:round/>
            <a:headEnd/>
            <a:tailEnd type="none" w="med" len="lg"/>
          </a:ln>
        </p:spPr>
        <p:txBody>
          <a:bodyPr lIns="73152" tIns="82296" rIns="73152"/>
          <a:lstStyle/>
          <a:p>
            <a:pPr>
              <a:buSzPct val="100000"/>
            </a:pPr>
            <a:r>
              <a:rPr lang="en-US" sz="1100" b="1" i="1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Skills:</a:t>
            </a:r>
          </a:p>
          <a:p>
            <a:pPr marL="171450" indent="-171450">
              <a:buSzPct val="100000"/>
              <a:buFont typeface="Wingdings" pitchFamily="2" charset="2"/>
              <a:buChar char="§"/>
            </a:pPr>
            <a:r>
              <a:rPr lang="en-US" sz="11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Java Script</a:t>
            </a:r>
          </a:p>
          <a:p>
            <a:pPr marL="171450" indent="-171450">
              <a:buSzPct val="100000"/>
              <a:buFont typeface="Wingdings" pitchFamily="2" charset="2"/>
              <a:buChar char="§"/>
            </a:pPr>
            <a:r>
              <a:rPr lang="en-US" sz="11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React</a:t>
            </a:r>
          </a:p>
          <a:p>
            <a:pPr marL="171450" indent="-171450">
              <a:buSzPct val="100000"/>
              <a:buFont typeface="Wingdings" pitchFamily="2" charset="2"/>
              <a:buChar char="§"/>
            </a:pPr>
            <a:r>
              <a:rPr lang="en-US" sz="11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Python</a:t>
            </a:r>
          </a:p>
          <a:p>
            <a:pPr marL="171450" indent="-171450">
              <a:buSzPct val="100000"/>
              <a:buFont typeface="Wingdings" pitchFamily="2" charset="2"/>
              <a:buChar char="§"/>
            </a:pPr>
            <a:r>
              <a:rPr lang="en-US" sz="11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SQL</a:t>
            </a:r>
          </a:p>
          <a:p>
            <a:pPr marL="171450" indent="-171450">
              <a:buSzPct val="100000"/>
              <a:buFont typeface="Wingdings" pitchFamily="2" charset="2"/>
              <a:buChar char="§"/>
            </a:pPr>
            <a:r>
              <a:rPr lang="en-US" sz="110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HTML and CSS</a:t>
            </a:r>
          </a:p>
          <a:p>
            <a:pPr>
              <a:buSzPct val="100000"/>
            </a:pPr>
            <a:endParaRPr lang="en-US" sz="900" dirty="0">
              <a:ea typeface="宋体" pitchFamily="2" charset="-122"/>
            </a:endParaRPr>
          </a:p>
          <a:p>
            <a:pPr>
              <a:buSzPct val="100000"/>
            </a:pPr>
            <a:endParaRPr lang="en-US" sz="800" b="1" dirty="0">
              <a:ea typeface="宋体" pitchFamily="2" charset="-122"/>
            </a:endParaRPr>
          </a:p>
          <a:p>
            <a:pPr marL="171450" indent="-171450">
              <a:buSzPct val="100000"/>
              <a:buFont typeface="Wingdings" pitchFamily="2" charset="2"/>
              <a:buChar char="§"/>
            </a:pPr>
            <a:endParaRPr lang="en-US" sz="800" dirty="0">
              <a:ea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7055504C-9860-4A04-831B-6356D5EAA2AE}"/>
              </a:ext>
            </a:extLst>
          </p:cNvPr>
          <p:cNvSpPr txBox="1">
            <a:spLocks/>
          </p:cNvSpPr>
          <p:nvPr/>
        </p:nvSpPr>
        <p:spPr bwMode="gray">
          <a:xfrm>
            <a:off x="-20618" y="0"/>
            <a:ext cx="2687618" cy="8427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</a:defRPr>
            </a:lvl9pPr>
          </a:lstStyle>
          <a:p>
            <a:endParaRPr lang="en-US" kern="0" baseline="30000" dirty="0">
              <a:latin typeface="+mn-lt"/>
            </a:endParaRPr>
          </a:p>
        </p:txBody>
      </p:sp>
      <p:pic>
        <p:nvPicPr>
          <p:cNvPr id="11" name="Picture 10" descr="A person with a mustache wearing a white shirt&#10;&#10;Description automatically generated">
            <a:extLst>
              <a:ext uri="{FF2B5EF4-FFF2-40B4-BE49-F238E27FC236}">
                <a16:creationId xmlns:a16="http://schemas.microsoft.com/office/drawing/2014/main" id="{93CA5BF8-6EF3-9379-212A-3356524A336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75" y="1027631"/>
            <a:ext cx="1111326" cy="1295478"/>
          </a:xfrm>
          <a:prstGeom prst="rect">
            <a:avLst/>
          </a:prstGeom>
        </p:spPr>
      </p:pic>
      <p:sp>
        <p:nvSpPr>
          <p:cNvPr id="6" name="AutoShape 7">
            <a:extLst>
              <a:ext uri="{FF2B5EF4-FFF2-40B4-BE49-F238E27FC236}">
                <a16:creationId xmlns:a16="http://schemas.microsoft.com/office/drawing/2014/main" id="{2FF18D32-CE23-496C-CAD5-9DBF77510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310" y="4953594"/>
            <a:ext cx="1657155" cy="1218606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9525" algn="ctr">
            <a:solidFill>
              <a:srgbClr val="BBBB00"/>
            </a:solidFill>
            <a:round/>
            <a:headEnd/>
            <a:tailEnd type="none" w="med" len="lg"/>
          </a:ln>
        </p:spPr>
        <p:txBody>
          <a:bodyPr lIns="73152" tIns="82296" rIns="73152"/>
          <a:lstStyle/>
          <a:p>
            <a:pPr eaLnBrk="0" hangingPunct="0">
              <a:spcBef>
                <a:spcPct val="5000"/>
              </a:spcBef>
              <a:buClr>
                <a:schemeClr val="tx1"/>
              </a:buClr>
            </a:pPr>
            <a:r>
              <a:rPr lang="en-US" sz="1100" b="1" i="1" dirty="0">
                <a:latin typeface="Calibri" panose="020F0502020204030204" pitchFamily="34" charset="0"/>
                <a:cs typeface="Calibri" panose="020F0502020204030204" pitchFamily="34" charset="0"/>
              </a:rPr>
              <a:t>Tools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pPr marL="171450" indent="-171450" eaLnBrk="0" hangingPunct="0">
              <a:spcBef>
                <a:spcPct val="5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VS Code</a:t>
            </a:r>
          </a:p>
          <a:p>
            <a:pPr marL="171450" indent="-171450" eaLnBrk="0" hangingPunct="0">
              <a:spcBef>
                <a:spcPct val="5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Postman</a:t>
            </a:r>
          </a:p>
          <a:p>
            <a:pPr marL="171450" indent="-171450" eaLnBrk="0" hangingPunct="0">
              <a:spcBef>
                <a:spcPct val="5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Eclipse</a:t>
            </a:r>
            <a:endParaRPr lang="en-US" sz="900" dirty="0">
              <a:ea typeface="宋体" pitchFamily="2" charset="-122"/>
            </a:endParaRPr>
          </a:p>
          <a:p>
            <a:pPr>
              <a:buSzPct val="100000"/>
            </a:pPr>
            <a:endParaRPr lang="en-US" sz="800" b="1" dirty="0">
              <a:ea typeface="宋体" pitchFamily="2" charset="-122"/>
            </a:endParaRPr>
          </a:p>
          <a:p>
            <a:pPr marL="171450" indent="-171450">
              <a:buSzPct val="100000"/>
              <a:buFont typeface="Wingdings" pitchFamily="2" charset="2"/>
              <a:buChar char="§"/>
            </a:pPr>
            <a:endParaRPr lang="en-US" sz="800" dirty="0">
              <a:ea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10000"/>
              </a:spcAft>
            </a:pPr>
            <a:endParaRPr lang="en-US" sz="800" dirty="0">
              <a:solidFill>
                <a:srgbClr val="0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6807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5O6CUCSCWAnq.BBwxGsw"/>
</p:tagLst>
</file>

<file path=ppt/theme/theme1.xml><?xml version="1.0" encoding="utf-8"?>
<a:theme xmlns:a="http://schemas.openxmlformats.org/drawingml/2006/main" name="14_Accenture_Tiger_RightLeftBrain_animate_Title">
  <a:themeElements>
    <a:clrScheme name="Accenture_Tiger_RightLeftBrain_animate_Title 3">
      <a:dk1>
        <a:srgbClr val="000000"/>
      </a:dk1>
      <a:lt1>
        <a:srgbClr val="FFFFFF"/>
      </a:lt1>
      <a:dk2>
        <a:srgbClr val="F8F8F8"/>
      </a:dk2>
      <a:lt2>
        <a:srgbClr val="C0C0C0"/>
      </a:lt2>
      <a:accent1>
        <a:srgbClr val="AA1133"/>
      </a:accent1>
      <a:accent2>
        <a:srgbClr val="66AA44"/>
      </a:accent2>
      <a:accent3>
        <a:srgbClr val="FFFFFF"/>
      </a:accent3>
      <a:accent4>
        <a:srgbClr val="000000"/>
      </a:accent4>
      <a:accent5>
        <a:srgbClr val="D2AAAD"/>
      </a:accent5>
      <a:accent6>
        <a:srgbClr val="5C9A3D"/>
      </a:accent6>
      <a:hlink>
        <a:srgbClr val="887799"/>
      </a:hlink>
      <a:folHlink>
        <a:srgbClr val="224433"/>
      </a:folHlink>
    </a:clrScheme>
    <a:fontScheme name="Accenture_Tiger_RightLeftBrain_animate_Tit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C0C0C0"/>
            </a:gs>
            <a:gs pos="100000">
              <a:schemeClr val="bg1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C0C0C0"/>
            </a:gs>
            <a:gs pos="100000">
              <a:schemeClr val="bg1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ccenture_Tiger_RightLeftBrain_animate_Titl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_Tiger_RightLeftBrain_animate_Title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AA99"/>
        </a:accent1>
        <a:accent2>
          <a:srgbClr val="DD4411"/>
        </a:accent2>
        <a:accent3>
          <a:srgbClr val="FFFFFF"/>
        </a:accent3>
        <a:accent4>
          <a:srgbClr val="000000"/>
        </a:accent4>
        <a:accent5>
          <a:srgbClr val="AAD2CA"/>
        </a:accent5>
        <a:accent6>
          <a:srgbClr val="C83D0E"/>
        </a:accent6>
        <a:hlink>
          <a:srgbClr val="BBBB00"/>
        </a:hlink>
        <a:folHlink>
          <a:srgbClr val="66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_Tiger_RightLeftBrain_animate_Title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AA1133"/>
        </a:accent1>
        <a:accent2>
          <a:srgbClr val="66AA44"/>
        </a:accent2>
        <a:accent3>
          <a:srgbClr val="FFFFFF"/>
        </a:accent3>
        <a:accent4>
          <a:srgbClr val="000000"/>
        </a:accent4>
        <a:accent5>
          <a:srgbClr val="D2AAAD"/>
        </a:accent5>
        <a:accent6>
          <a:srgbClr val="5C9A3D"/>
        </a:accent6>
        <a:hlink>
          <a:srgbClr val="887799"/>
        </a:hlink>
        <a:folHlink>
          <a:srgbClr val="2244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centure_Tiger_RightLeftBrain_animate_Title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FF00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8A00"/>
        </a:accent6>
        <a:hlink>
          <a:srgbClr val="557799"/>
        </a:hlink>
        <a:folHlink>
          <a:srgbClr val="44551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2274</TotalTime>
  <Words>380</Words>
  <Application>Microsoft Office PowerPoint</Application>
  <PresentationFormat>On-screen Show (4:3)</PresentationFormat>
  <Paragraphs>92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宋体</vt:lpstr>
      <vt:lpstr>Arial</vt:lpstr>
      <vt:lpstr>Calibri</vt:lpstr>
      <vt:lpstr>inherit</vt:lpstr>
      <vt:lpstr>Roboto</vt:lpstr>
      <vt:lpstr>Wingdings</vt:lpstr>
      <vt:lpstr>14_Accenture_Tiger_RightLeftBrain_animate_Title</vt:lpstr>
      <vt:lpstr>think-cell Slide</vt:lpstr>
      <vt:lpstr> 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Rishi Gupta</dc:creator>
  <cp:lastModifiedBy>Penugonda, Manoj Sai</cp:lastModifiedBy>
  <cp:revision>326</cp:revision>
  <dcterms:created xsi:type="dcterms:W3CDTF">2015-01-08T09:12:54Z</dcterms:created>
  <dcterms:modified xsi:type="dcterms:W3CDTF">2024-10-28T08:07:16Z</dcterms:modified>
</cp:coreProperties>
</file>