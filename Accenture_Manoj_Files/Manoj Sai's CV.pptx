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0" r:id="rId2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63" d="100"/>
          <a:sy n="63" d="100"/>
        </p:scale>
        <p:origin x="1364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nugonda, Manoj Sai" userId="793a165f-a7a0-4b59-a5b3-3225e6eff571" providerId="ADAL" clId="{348DA889-97D3-4472-92EA-D9FF8C660AF5}"/>
    <pc:docChg chg="modSld">
      <pc:chgData name="Penugonda, Manoj Sai" userId="793a165f-a7a0-4b59-a5b3-3225e6eff571" providerId="ADAL" clId="{348DA889-97D3-4472-92EA-D9FF8C660AF5}" dt="2025-06-10T10:10:43.044" v="112" actId="20577"/>
      <pc:docMkLst>
        <pc:docMk/>
      </pc:docMkLst>
      <pc:sldChg chg="modSp mod">
        <pc:chgData name="Penugonda, Manoj Sai" userId="793a165f-a7a0-4b59-a5b3-3225e6eff571" providerId="ADAL" clId="{348DA889-97D3-4472-92EA-D9FF8C660AF5}" dt="2025-06-10T10:10:43.044" v="112" actId="20577"/>
        <pc:sldMkLst>
          <pc:docMk/>
          <pc:sldMk cId="2729680706" sldId="260"/>
        </pc:sldMkLst>
        <pc:spChg chg="mod">
          <ac:chgData name="Penugonda, Manoj Sai" userId="793a165f-a7a0-4b59-a5b3-3225e6eff571" providerId="ADAL" clId="{348DA889-97D3-4472-92EA-D9FF8C660AF5}" dt="2025-05-30T09:21:31.168" v="79" actId="20577"/>
          <ac:spMkLst>
            <pc:docMk/>
            <pc:sldMk cId="2729680706" sldId="260"/>
            <ac:spMk id="6" creationId="{2FF18D32-CE23-496C-CAD5-9DBF7751031B}"/>
          </ac:spMkLst>
        </pc:spChg>
        <pc:spChg chg="mod">
          <ac:chgData name="Penugonda, Manoj Sai" userId="793a165f-a7a0-4b59-a5b3-3225e6eff571" providerId="ADAL" clId="{348DA889-97D3-4472-92EA-D9FF8C660AF5}" dt="2025-05-30T09:21:04.214" v="24" actId="20577"/>
          <ac:spMkLst>
            <pc:docMk/>
            <pc:sldMk cId="2729680706" sldId="260"/>
            <ac:spMk id="32" creationId="{AD0E0665-C183-40BD-8B09-8E6600A4518E}"/>
          </ac:spMkLst>
        </pc:spChg>
        <pc:spChg chg="mod">
          <ac:chgData name="Penugonda, Manoj Sai" userId="793a165f-a7a0-4b59-a5b3-3225e6eff571" providerId="ADAL" clId="{348DA889-97D3-4472-92EA-D9FF8C660AF5}" dt="2025-06-10T10:10:43.044" v="112" actId="20577"/>
          <ac:spMkLst>
            <pc:docMk/>
            <pc:sldMk cId="2729680706" sldId="260"/>
            <ac:spMk id="37" creationId="{00000000-0000-0000-0000-000000000000}"/>
          </ac:spMkLst>
        </pc:spChg>
        <pc:spChg chg="mod">
          <ac:chgData name="Penugonda, Manoj Sai" userId="793a165f-a7a0-4b59-a5b3-3225e6eff571" providerId="ADAL" clId="{348DA889-97D3-4472-92EA-D9FF8C660AF5}" dt="2025-05-30T09:20:41.709" v="9" actId="20577"/>
          <ac:spMkLst>
            <pc:docMk/>
            <pc:sldMk cId="2729680706" sldId="260"/>
            <ac:spMk id="3079" creationId="{00000000-0000-0000-0000-000000000000}"/>
          </ac:spMkLst>
        </pc:spChg>
      </pc:sldChg>
    </pc:docChg>
  </pc:docChgLst>
  <pc:docChgLst>
    <pc:chgData name="Penugonda, Manoj Sai" userId="S::manoj.sai.penugonda@accenture.com::793a165f-a7a0-4b59-a5b3-3225e6eff571" providerId="AD" clId="Web-{F9F06CE8-2B0B-4336-8169-05C1A4FBDEB6}"/>
    <pc:docChg chg="modSld">
      <pc:chgData name="Penugonda, Manoj Sai" userId="S::manoj.sai.penugonda@accenture.com::793a165f-a7a0-4b59-a5b3-3225e6eff571" providerId="AD" clId="Web-{F9F06CE8-2B0B-4336-8169-05C1A4FBDEB6}" dt="2025-06-06T06:57:17.182" v="0" actId="20577"/>
      <pc:docMkLst>
        <pc:docMk/>
      </pc:docMkLst>
      <pc:sldChg chg="modSp">
        <pc:chgData name="Penugonda, Manoj Sai" userId="S::manoj.sai.penugonda@accenture.com::793a165f-a7a0-4b59-a5b3-3225e6eff571" providerId="AD" clId="Web-{F9F06CE8-2B0B-4336-8169-05C1A4FBDEB6}" dt="2025-06-06T06:57:17.182" v="0" actId="20577"/>
        <pc:sldMkLst>
          <pc:docMk/>
          <pc:sldMk cId="2729680706" sldId="260"/>
        </pc:sldMkLst>
        <pc:spChg chg="mod">
          <ac:chgData name="Penugonda, Manoj Sai" userId="S::manoj.sai.penugonda@accenture.com::793a165f-a7a0-4b59-a5b3-3225e6eff571" providerId="AD" clId="Web-{F9F06CE8-2B0B-4336-8169-05C1A4FBDEB6}" dt="2025-06-06T06:57:17.182" v="0" actId="20577"/>
          <ac:spMkLst>
            <pc:docMk/>
            <pc:sldMk cId="2729680706" sldId="260"/>
            <ac:spMk id="3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17844-E438-4A49-BE95-1CD214734C22}" type="datetimeFigureOut">
              <a:rPr lang="en-US" smtClean="0"/>
              <a:pPr/>
              <a:t>6/10/2025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CF4B66-1948-4087-9EFB-C6137F4A0CA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265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1271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9" descr="05"/>
          <p:cNvPicPr preferRelativeResize="0"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0" y="1588"/>
            <a:ext cx="9144000" cy="685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111"/>
          <p:cNvSpPr txBox="1">
            <a:spLocks noChangeArrowheads="1"/>
          </p:cNvSpPr>
          <p:nvPr/>
        </p:nvSpPr>
        <p:spPr bwMode="gray">
          <a:xfrm>
            <a:off x="401638" y="6557963"/>
            <a:ext cx="8415337" cy="2111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dirty="0">
                <a:solidFill>
                  <a:srgbClr val="FFFFFF"/>
                </a:solidFill>
              </a:rPr>
              <a:t>Copyright © 2007 Accenture  All Rights Reserved. Accenture, its logo, and High Performance Delivered are trademarks of Accenture.</a:t>
            </a:r>
          </a:p>
        </p:txBody>
      </p:sp>
      <p:pic>
        <p:nvPicPr>
          <p:cNvPr id="6" name="Picture 11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79400" y="2149475"/>
            <a:ext cx="3821113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Line 117"/>
          <p:cNvSpPr>
            <a:spLocks noChangeShapeType="1"/>
          </p:cNvSpPr>
          <p:nvPr/>
        </p:nvSpPr>
        <p:spPr bwMode="gray">
          <a:xfrm>
            <a:off x="0" y="3429000"/>
            <a:ext cx="9144000" cy="0"/>
          </a:xfrm>
          <a:prstGeom prst="line">
            <a:avLst/>
          </a:prstGeom>
          <a:noFill/>
          <a:ln w="12700">
            <a:solidFill>
              <a:srgbClr val="0033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3200" b="1" dirty="0">
              <a:solidFill>
                <a:srgbClr val="000000"/>
              </a:solidFill>
            </a:endParaRPr>
          </a:p>
        </p:txBody>
      </p:sp>
      <p:sp>
        <p:nvSpPr>
          <p:cNvPr id="10300" name="Rectangle 60"/>
          <p:cNvSpPr>
            <a:spLocks noGrp="1" noChangeArrowheads="1"/>
          </p:cNvSpPr>
          <p:nvPr>
            <p:ph type="ctrTitle" sz="quarter"/>
          </p:nvPr>
        </p:nvSpPr>
        <p:spPr>
          <a:xfrm>
            <a:off x="2436813" y="4887913"/>
            <a:ext cx="6216650" cy="1143000"/>
          </a:xfrm>
          <a:ln w="9525"/>
        </p:spPr>
        <p:txBody>
          <a:bodyPr lIns="91440" tIns="45720" rIns="91440" bIns="45720"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301" name="Rectangle 6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52688" y="6065838"/>
            <a:ext cx="6216650" cy="514350"/>
          </a:xfrm>
          <a:ln w="9525"/>
        </p:spPr>
        <p:txBody>
          <a:bodyPr lIns="91440" tIns="45720" rIns="91440" bIns="45720"/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66213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Copyright © 2008 Accenture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44539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Copyright © 2008 Accenture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29617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6538" y="1028700"/>
            <a:ext cx="423545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4388" y="1028700"/>
            <a:ext cx="423545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Copyright © 2008 Accenture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25616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Copyright © 2008 Accenture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68337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Copyright © 2008 Accenture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80310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Copyright © 2008 Accenture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09407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Copyright © 2008 Accenture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15365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Copyright © 2008 Accenture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51740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Copyright © 2008 Accenture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21788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9088" y="285750"/>
            <a:ext cx="2190750" cy="51625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075" y="285750"/>
            <a:ext cx="6424613" cy="5162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Copyright © 2008 Accenture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87549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AC Banner"/>
          <p:cNvSpPr>
            <a:spLocks noChangeArrowheads="1"/>
          </p:cNvSpPr>
          <p:nvPr/>
        </p:nvSpPr>
        <p:spPr bwMode="gray">
          <a:xfrm>
            <a:off x="0" y="0"/>
            <a:ext cx="9144000" cy="8763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3200" b="1" dirty="0">
              <a:solidFill>
                <a:srgbClr val="000000"/>
              </a:solidFill>
            </a:endParaRPr>
          </a:p>
        </p:txBody>
      </p:sp>
      <p:sp>
        <p:nvSpPr>
          <p:cNvPr id="1027" name="Rectangle 29"/>
          <p:cNvSpPr>
            <a:spLocks noGrp="1" noChangeArrowheads="1"/>
          </p:cNvSpPr>
          <p:nvPr>
            <p:ph type="body" idx="1"/>
          </p:nvPr>
        </p:nvSpPr>
        <p:spPr bwMode="gray">
          <a:xfrm>
            <a:off x="236538" y="1028700"/>
            <a:ext cx="8623300" cy="4419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86" name="Rectangle 62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423863" y="6324600"/>
            <a:ext cx="44894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1000" b="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Copyright © 2017 Accenture All Rights Reserved.</a:t>
            </a:r>
          </a:p>
        </p:txBody>
      </p:sp>
      <p:sp>
        <p:nvSpPr>
          <p:cNvPr id="1029" name="Rectangle 65"/>
          <p:cNvSpPr>
            <a:spLocks noGrp="1" noChangeArrowheads="1"/>
          </p:cNvSpPr>
          <p:nvPr>
            <p:ph type="title"/>
          </p:nvPr>
        </p:nvSpPr>
        <p:spPr bwMode="gray">
          <a:xfrm>
            <a:off x="1" y="0"/>
            <a:ext cx="8059738" cy="885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23" name="Text Box 99"/>
          <p:cNvSpPr txBox="1">
            <a:spLocks noChangeArrowheads="1"/>
          </p:cNvSpPr>
          <p:nvPr userDrawn="1"/>
        </p:nvSpPr>
        <p:spPr bwMode="auto">
          <a:xfrm>
            <a:off x="7635875" y="0"/>
            <a:ext cx="15081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/>
            </a:pPr>
            <a:endParaRPr lang="en-US" sz="1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913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576263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2pPr>
      <a:lvl3pPr marL="858838" indent="-1682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>
          <a:solidFill>
            <a:schemeClr val="tx1"/>
          </a:solidFill>
          <a:latin typeface="+mn-lt"/>
        </a:defRPr>
      </a:lvl3pPr>
      <a:lvl4pPr marL="1200150" indent="-2270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1600">
          <a:solidFill>
            <a:schemeClr val="tx1"/>
          </a:solidFill>
          <a:latin typeface="+mn-lt"/>
        </a:defRPr>
      </a:lvl4pPr>
      <a:lvl5pPr marL="1481138" indent="-1666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chemeClr val="tx1"/>
          </a:solidFill>
          <a:latin typeface="+mn-lt"/>
        </a:defRPr>
      </a:lvl5pPr>
      <a:lvl6pPr marL="1938338" indent="-1666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chemeClr val="tx1"/>
          </a:solidFill>
          <a:latin typeface="+mn-lt"/>
        </a:defRPr>
      </a:lvl6pPr>
      <a:lvl7pPr marL="2395538" indent="-1666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chemeClr val="tx1"/>
          </a:solidFill>
          <a:latin typeface="+mn-lt"/>
        </a:defRPr>
      </a:lvl7pPr>
      <a:lvl8pPr marL="2852738" indent="-1666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chemeClr val="tx1"/>
          </a:solidFill>
          <a:latin typeface="+mn-lt"/>
        </a:defRPr>
      </a:lvl8pPr>
      <a:lvl9pPr marL="3309938" indent="-1666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241001AA-D9D1-4EB1-8356-72D0E350FD4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19073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241001AA-D9D1-4EB1-8356-72D0E350FD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52018E3-D79E-443F-A541-580633953FD3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chemeClr val="bg1"/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spcCol="0" rtlCol="0" anchor="ctr" anchorCtr="0" compatLnSpc="1">
            <a:prstTxWarp prst="textNoShape">
              <a:avLst/>
            </a:prstTxWarp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sz="2800" b="1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3079" name="AutoShape 12"/>
          <p:cNvSpPr>
            <a:spLocks noChangeArrowheads="1"/>
          </p:cNvSpPr>
          <p:nvPr/>
        </p:nvSpPr>
        <p:spPr bwMode="auto">
          <a:xfrm>
            <a:off x="143343" y="2705301"/>
            <a:ext cx="3977814" cy="2032643"/>
          </a:xfrm>
          <a:prstGeom prst="roundRect">
            <a:avLst>
              <a:gd name="adj" fmla="val 6250"/>
            </a:avLst>
          </a:prstGeom>
          <a:solidFill>
            <a:schemeClr val="bg1">
              <a:alpha val="36078"/>
            </a:schemeClr>
          </a:solidFill>
          <a:ln w="9525" algn="ctr">
            <a:solidFill>
              <a:srgbClr val="BBBB00"/>
            </a:solidFill>
            <a:round/>
            <a:headEnd/>
            <a:tailEnd type="none" w="med" len="lg"/>
          </a:ln>
        </p:spPr>
        <p:txBody>
          <a:bodyPr lIns="73152" tIns="82296" rIns="73152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 am an Advanced App Engineering Analyst trained on MERN stack, mainly on Mongo Db, Express, React and Node JS. </a:t>
            </a:r>
          </a:p>
          <a:p>
            <a:pPr algn="just"/>
            <a:endParaRPr lang="en-US" sz="11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 am also proficient in Python, SQL and have moderate knowledge on Core Java.</a:t>
            </a:r>
          </a:p>
          <a:p>
            <a:pPr algn="just"/>
            <a:endParaRPr lang="en-US" sz="11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kern="1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 hold a Bachelor’s degree in Electronics Engineering from Madras Institute of Technology, Anna University, Chennai.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Worked on Web Applications Development  using ReactJS and Java Script</a:t>
            </a:r>
            <a:r>
              <a:rPr lang="en-US" sz="1100" dirty="0"/>
              <a:t>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 kern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endParaRPr lang="en-US" sz="900" b="1" dirty="0">
              <a:solidFill>
                <a:prstClr val="black"/>
              </a:solidFill>
              <a:cs typeface="Arial" pitchFamily="34" charset="0"/>
            </a:endParaRPr>
          </a:p>
          <a:p>
            <a:pPr>
              <a:defRPr/>
            </a:pPr>
            <a:endParaRPr lang="en-IN" sz="900" dirty="0">
              <a:solidFill>
                <a:prstClr val="black"/>
              </a:solidFill>
              <a:cs typeface="Arial" pitchFamily="34" charset="0"/>
            </a:endParaRPr>
          </a:p>
          <a:p>
            <a:pPr marL="115888" indent="-115888" defTabSz="912813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/>
            </a:pPr>
            <a:endParaRPr lang="en-IN" sz="8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66007"/>
            <a:ext cx="2666999" cy="799943"/>
          </a:xfrm>
        </p:spPr>
        <p:txBody>
          <a:bodyPr/>
          <a:lstStyle/>
          <a:p>
            <a:br>
              <a:rPr lang="en-US" sz="1600" dirty="0"/>
            </a:br>
            <a:endParaRPr lang="en-US" sz="1600" dirty="0">
              <a:latin typeface="Calibri" pitchFamily="34" charset="0"/>
            </a:endParaRPr>
          </a:p>
        </p:txBody>
      </p:sp>
      <p:sp>
        <p:nvSpPr>
          <p:cNvPr id="3081" name="AutoShape 14"/>
          <p:cNvSpPr>
            <a:spLocks noChangeArrowheads="1"/>
          </p:cNvSpPr>
          <p:nvPr/>
        </p:nvSpPr>
        <p:spPr bwMode="auto">
          <a:xfrm>
            <a:off x="143343" y="978267"/>
            <a:ext cx="3914775" cy="1443348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 algn="ctr">
            <a:solidFill>
              <a:srgbClr val="BBBB00"/>
            </a:solidFill>
            <a:round/>
            <a:headEnd/>
            <a:tailEnd type="none" w="med" len="lg"/>
          </a:ln>
        </p:spPr>
        <p:txBody>
          <a:bodyPr lIns="73152" tIns="82296" rIns="73152"/>
          <a:lstStyle/>
          <a:p>
            <a:pPr marL="1608138" lvl="3"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sz="1000" b="1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084" name="Footer Placeholder 3"/>
          <p:cNvSpPr txBox="1">
            <a:spLocks noGrp="1"/>
          </p:cNvSpPr>
          <p:nvPr/>
        </p:nvSpPr>
        <p:spPr bwMode="gray">
          <a:xfrm>
            <a:off x="-20618" y="6634662"/>
            <a:ext cx="6581775" cy="2233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 eaLnBrk="0" fontAlgn="base" hangingPunct="0">
              <a:lnSpc>
                <a:spcPct val="80000"/>
              </a:lnSpc>
              <a:spcBef>
                <a:spcPct val="3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</a:rPr>
              <a:t>Copyright © 2025 Accenture.  All Rights Reserved.  Proprietary and Confidential Information to Accenture.</a:t>
            </a:r>
          </a:p>
        </p:txBody>
      </p:sp>
      <p:pic>
        <p:nvPicPr>
          <p:cNvPr id="16" name="Picture 11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gray">
          <a:xfrm>
            <a:off x="7343066" y="38697"/>
            <a:ext cx="1667396" cy="82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80" name="Text Box 13"/>
          <p:cNvSpPr txBox="1">
            <a:spLocks noChangeArrowheads="1"/>
          </p:cNvSpPr>
          <p:nvPr/>
        </p:nvSpPr>
        <p:spPr bwMode="auto">
          <a:xfrm>
            <a:off x="222174" y="2465723"/>
            <a:ext cx="919163" cy="18288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 type="none" w="med" len="lg"/>
          </a:ln>
        </p:spPr>
        <p:txBody>
          <a:bodyPr lIns="45720" rIns="45720"/>
          <a:lstStyle/>
          <a:p>
            <a:pPr fontAlgn="base">
              <a:lnSpc>
                <a:spcPct val="85000"/>
              </a:lnSpc>
              <a:spcBef>
                <a:spcPct val="0"/>
              </a:spcBef>
              <a:spcAft>
                <a:spcPct val="50000"/>
              </a:spcAft>
            </a:pPr>
            <a:r>
              <a:rPr lang="en-US" sz="1100" b="1" i="1" dirty="0">
                <a:solidFill>
                  <a:srgbClr val="61738F"/>
                </a:solidFill>
                <a:latin typeface="Calibri" pitchFamily="34" charset="0"/>
                <a:ea typeface="ＭＳ Ｐゴシック" pitchFamily="50" charset="-128"/>
              </a:rPr>
              <a:t>Background</a:t>
            </a:r>
          </a:p>
        </p:txBody>
      </p:sp>
      <p:sp>
        <p:nvSpPr>
          <p:cNvPr id="37" name="AutoShape 3"/>
          <p:cNvSpPr>
            <a:spLocks noChangeArrowheads="1"/>
          </p:cNvSpPr>
          <p:nvPr/>
        </p:nvSpPr>
        <p:spPr bwMode="auto">
          <a:xfrm>
            <a:off x="4199989" y="1313013"/>
            <a:ext cx="4879495" cy="5037962"/>
          </a:xfrm>
          <a:prstGeom prst="roundRect">
            <a:avLst>
              <a:gd name="adj" fmla="val 3218"/>
            </a:avLst>
          </a:prstGeom>
          <a:solidFill>
            <a:schemeClr val="bg1"/>
          </a:solidFill>
          <a:ln w="9525" algn="ctr">
            <a:solidFill>
              <a:srgbClr val="BBBB00"/>
            </a:solidFill>
            <a:round/>
            <a:headEnd/>
            <a:tailEnd type="none" w="med" len="lg"/>
          </a:ln>
        </p:spPr>
        <p:txBody>
          <a:bodyPr lIns="18288" tIns="82296" rIns="18288" bIns="45720" anchor="t"/>
          <a:lstStyle/>
          <a:p>
            <a:pPr algn="l" rtl="0" fontAlgn="base"/>
            <a:endParaRPr lang="en-US" sz="1100" dirty="0">
              <a:solidFill>
                <a:srgbClr val="4A4A4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Clr>
                <a:srgbClr val="000000"/>
              </a:buClr>
              <a:buFont typeface="Wingdings" panose="05000000000000000000" pitchFamily="2" charset="2"/>
              <a:buChar char="q"/>
              <a:defRPr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 Experience: Pfizer, Application Developer(SEP 2024 – PRESENT)</a:t>
            </a:r>
          </a:p>
          <a:p>
            <a:pPr marL="171450" indent="-171450">
              <a:buClr>
                <a:srgbClr val="000000"/>
              </a:buClr>
              <a:buFont typeface="Wingdings" panose="05000000000000000000" pitchFamily="2" charset="2"/>
              <a:buChar char="q"/>
              <a:defRPr/>
            </a:pPr>
            <a:endParaRPr lang="en-US" sz="11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Assigned Role: Advanced App Engineering Analyst</a:t>
            </a:r>
          </a:p>
          <a:p>
            <a:pPr marL="171450" indent="-171450"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Technology :  ReactJS, CSS, HTML and SASS</a:t>
            </a:r>
          </a:p>
          <a:p>
            <a:pPr>
              <a:buClr>
                <a:srgbClr val="000000"/>
              </a:buClr>
              <a:defRPr/>
            </a:pPr>
            <a:endParaRPr lang="en-US" sz="11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latin typeface="Calibri"/>
                <a:ea typeface="Calibri"/>
                <a:cs typeface="Calibri"/>
              </a:rPr>
              <a:t>Contributed to enhancement of  Pfizer web application by implementing new features using React, CSS, and SASS, improving UI performance and user experience.</a:t>
            </a:r>
          </a:p>
          <a:p>
            <a:pPr marL="171450" indent="-17145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and maintained a data analytics application using React.js, implementing dynamic charts and tables to display various ticket data for real-time insights.</a:t>
            </a:r>
          </a:p>
          <a:p>
            <a:pPr marL="171450" indent="-17145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Handled deployment processes on Linux servers using Apache Tomcat, JAR files, and Nginx, ensuring smooth delivery, server configuration, and performance optimization in production environments</a:t>
            </a:r>
            <a:r>
              <a:rPr lang="en-US" sz="1100" dirty="0"/>
              <a:t>.</a:t>
            </a:r>
            <a:br>
              <a:rPr lang="en-US" sz="1100" dirty="0">
                <a:solidFill>
                  <a:srgbClr val="4A4A4A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100" dirty="0">
              <a:solidFill>
                <a:srgbClr val="4A4A4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Clr>
                <a:srgbClr val="000000"/>
              </a:buClr>
              <a:buFont typeface="Wingdings" panose="05000000000000000000" pitchFamily="2" charset="2"/>
              <a:buChar char="q"/>
              <a:defRPr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 Experience: Unilever, Application Developer(JAN 2023 – AUG 2024)</a:t>
            </a:r>
          </a:p>
          <a:p>
            <a:pPr marL="171450" indent="-171450">
              <a:buClr>
                <a:srgbClr val="000000"/>
              </a:buClr>
              <a:buFont typeface="Wingdings" panose="05000000000000000000" pitchFamily="2" charset="2"/>
              <a:buChar char="q"/>
              <a:defRPr/>
            </a:pPr>
            <a:endParaRPr lang="en-US" sz="11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Assigned Role: Advanced App Engineering Analyst</a:t>
            </a:r>
          </a:p>
          <a:p>
            <a:pPr marL="171450" indent="-171450"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Technology :  ReactJS, CSS, HTML and Byte Platform</a:t>
            </a:r>
          </a:p>
          <a:p>
            <a:pPr>
              <a:buClr>
                <a:srgbClr val="000000"/>
              </a:buClr>
              <a:defRPr/>
            </a:pPr>
            <a:endParaRPr lang="en-US" sz="11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rgbClr val="4A4A4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Performed the role of full – stack frontend developer using React, SQL.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Created data analytic application for client using the byte Platform.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 have worked on developing the application using ReactJS and Configs.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 have worked on CSS properties of the application which include Ag Grid, Bar chart components.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 have created and worked on the Key Performance Indices(KPI) creation and widget configuration using KPI’s and Configs.</a:t>
            </a:r>
          </a:p>
          <a:p>
            <a:pPr>
              <a:buClr>
                <a:srgbClr val="000000"/>
              </a:buClr>
              <a:defRPr/>
            </a:pPr>
            <a:endParaRPr lang="en-US" sz="1100" dirty="0">
              <a:solidFill>
                <a:srgbClr val="4A4A4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4A4A4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 rtl="0" fontAlgn="base"/>
            <a:endParaRPr lang="en-US" sz="11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000000"/>
              </a:buClr>
              <a:defRPr/>
            </a:pPr>
            <a:endParaRPr lang="en-US" sz="900" b="1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buClr>
                <a:srgbClr val="000000"/>
              </a:buClr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 marL="171450" indent="-171450">
              <a:spcBef>
                <a:spcPts val="0"/>
              </a:spcBef>
              <a:buClr>
                <a:srgbClr val="000000"/>
              </a:buClr>
              <a:buFont typeface="Arial" pitchFamily="34" charset="0"/>
              <a:buChar char="•"/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 marL="171450" indent="-171450">
              <a:spcBef>
                <a:spcPts val="0"/>
              </a:spcBef>
              <a:buClr>
                <a:srgbClr val="000000"/>
              </a:buClr>
              <a:buFont typeface="Arial" pitchFamily="34" charset="0"/>
              <a:buChar char="•"/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5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5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5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5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5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17475"/>
            <a:endParaRPr lang="en-US" sz="1050" dirty="0">
              <a:latin typeface="Calibri" panose="020F0502020204030204" pitchFamily="34" charset="0"/>
            </a:endParaRPr>
          </a:p>
        </p:txBody>
      </p:sp>
      <p:sp>
        <p:nvSpPr>
          <p:cNvPr id="39" name="Text Box 5"/>
          <p:cNvSpPr txBox="1">
            <a:spLocks noChangeArrowheads="1"/>
          </p:cNvSpPr>
          <p:nvPr/>
        </p:nvSpPr>
        <p:spPr bwMode="auto">
          <a:xfrm>
            <a:off x="4162860" y="1050654"/>
            <a:ext cx="2088232" cy="16854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 type="none" w="med" len="lg"/>
          </a:ln>
        </p:spPr>
        <p:txBody>
          <a:bodyPr lIns="45720" rIns="45720"/>
          <a:lstStyle/>
          <a:p>
            <a:pPr fontAlgn="base">
              <a:lnSpc>
                <a:spcPct val="85000"/>
              </a:lnSpc>
              <a:spcBef>
                <a:spcPct val="0"/>
              </a:spcBef>
              <a:spcAft>
                <a:spcPct val="50000"/>
              </a:spcAft>
            </a:pPr>
            <a:r>
              <a:rPr lang="en-US" sz="1200" b="1" i="1" dirty="0">
                <a:solidFill>
                  <a:srgbClr val="61738F"/>
                </a:solidFill>
                <a:latin typeface="Calibri" pitchFamily="34" charset="0"/>
                <a:ea typeface="ＭＳ Ｐゴシック" pitchFamily="50" charset="-128"/>
              </a:rPr>
              <a:t>Relevant Experience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66C1F4-351E-4A5B-8ACD-5081C03212BE}"/>
              </a:ext>
            </a:extLst>
          </p:cNvPr>
          <p:cNvSpPr txBox="1"/>
          <p:nvPr/>
        </p:nvSpPr>
        <p:spPr>
          <a:xfrm>
            <a:off x="222174" y="1094893"/>
            <a:ext cx="1386255" cy="525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7475" lvl="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AU" sz="1000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marL="117475" lvl="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AU" sz="1000" dirty="0">
              <a:solidFill>
                <a:srgbClr val="000000"/>
              </a:solidFill>
            </a:endParaRPr>
          </a:p>
        </p:txBody>
      </p:sp>
      <p:sp>
        <p:nvSpPr>
          <p:cNvPr id="38" name="Rectangle 8">
            <a:extLst>
              <a:ext uri="{FF2B5EF4-FFF2-40B4-BE49-F238E27FC236}">
                <a16:creationId xmlns:a16="http://schemas.microsoft.com/office/drawing/2014/main" id="{78FD48CB-7244-4280-8DE4-1E5E45484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1750" y="1009460"/>
            <a:ext cx="2530650" cy="1395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54000" anchor="ctr"/>
          <a:lstStyle/>
          <a:p>
            <a:pPr algn="l" defTabSz="585788" eaLnBrk="0" hangingPunct="0"/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MANOJ SAI PENUGONDA</a:t>
            </a:r>
          </a:p>
          <a:p>
            <a:pPr defTabSz="585788" eaLnBrk="0" hangingPunct="0"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Advanced App Engineering Analyst</a:t>
            </a:r>
            <a:b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Level-11</a:t>
            </a:r>
          </a:p>
          <a:p>
            <a:pPr defTabSz="585788" eaLnBrk="0" hangingPunct="0"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Accenture</a:t>
            </a:r>
          </a:p>
          <a:p>
            <a:pPr defTabSz="585788" eaLnBrk="0" hangingPunct="0"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Mobile: + 91- 7095258282</a:t>
            </a:r>
          </a:p>
          <a:p>
            <a:pPr defTabSz="585788" eaLnBrk="0" hangingPunct="0"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Email: </a:t>
            </a:r>
            <a:r>
              <a:rPr lang="en-US" sz="1100" u="sng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manoj.sai.penugonda@accenture.com</a:t>
            </a:r>
          </a:p>
          <a:p>
            <a:pPr defTabSz="585788" eaLnBrk="0" hangingPunct="0"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Location: Chennai </a:t>
            </a:r>
          </a:p>
        </p:txBody>
      </p:sp>
      <p:sp>
        <p:nvSpPr>
          <p:cNvPr id="32" name="AutoShape 7">
            <a:extLst>
              <a:ext uri="{FF2B5EF4-FFF2-40B4-BE49-F238E27FC236}">
                <a16:creationId xmlns:a16="http://schemas.microsoft.com/office/drawing/2014/main" id="{AD0E0665-C183-40BD-8B09-8E6600A45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759" y="4964932"/>
            <a:ext cx="1657155" cy="1207268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 algn="ctr">
            <a:solidFill>
              <a:srgbClr val="BBBB00"/>
            </a:solidFill>
            <a:round/>
            <a:headEnd/>
            <a:tailEnd type="none" w="med" len="lg"/>
          </a:ln>
        </p:spPr>
        <p:txBody>
          <a:bodyPr lIns="73152" tIns="82296" rIns="73152"/>
          <a:lstStyle/>
          <a:p>
            <a:pPr>
              <a:buSzPct val="100000"/>
            </a:pPr>
            <a:r>
              <a:rPr lang="en-US" sz="1100" b="1" i="1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Skills:</a:t>
            </a:r>
          </a:p>
          <a:p>
            <a:pPr marL="171450" indent="-171450">
              <a:buSzPct val="100000"/>
              <a:buFont typeface="Wingdings" pitchFamily="2" charset="2"/>
              <a:buChar char="§"/>
            </a:pPr>
            <a:r>
              <a:rPr lang="en-US" sz="11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React</a:t>
            </a:r>
          </a:p>
          <a:p>
            <a:pPr marL="171450" indent="-171450">
              <a:buSzPct val="100000"/>
              <a:buFont typeface="Wingdings" pitchFamily="2" charset="2"/>
              <a:buChar char="§"/>
            </a:pPr>
            <a:r>
              <a:rPr lang="en-US" sz="11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Java Script</a:t>
            </a:r>
          </a:p>
          <a:p>
            <a:pPr marL="171450" indent="-171450">
              <a:buSzPct val="100000"/>
              <a:buFont typeface="Wingdings" pitchFamily="2" charset="2"/>
              <a:buChar char="§"/>
            </a:pPr>
            <a:r>
              <a:rPr lang="en-US" sz="11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HTML and CSS</a:t>
            </a:r>
          </a:p>
          <a:p>
            <a:pPr marL="171450" indent="-171450">
              <a:buSzPct val="100000"/>
              <a:buFont typeface="Wingdings" pitchFamily="2" charset="2"/>
              <a:buChar char="§"/>
            </a:pPr>
            <a:r>
              <a:rPr lang="en-US" sz="11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Python</a:t>
            </a:r>
          </a:p>
          <a:p>
            <a:pPr marL="171450" indent="-171450">
              <a:buSzPct val="100000"/>
              <a:buFont typeface="Wingdings" pitchFamily="2" charset="2"/>
              <a:buChar char="§"/>
            </a:pPr>
            <a:r>
              <a:rPr lang="en-US" sz="11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SQL</a:t>
            </a:r>
            <a:endParaRPr lang="en-US" sz="900" dirty="0">
              <a:ea typeface="宋体" pitchFamily="2" charset="-122"/>
            </a:endParaRPr>
          </a:p>
          <a:p>
            <a:pPr>
              <a:buSzPct val="100000"/>
            </a:pPr>
            <a:endParaRPr lang="en-US" sz="800" b="1" dirty="0">
              <a:ea typeface="宋体" pitchFamily="2" charset="-122"/>
            </a:endParaRPr>
          </a:p>
          <a:p>
            <a:pPr marL="171450" indent="-171450">
              <a:buSzPct val="100000"/>
              <a:buFont typeface="Wingdings" pitchFamily="2" charset="2"/>
              <a:buChar char="§"/>
            </a:pPr>
            <a:endParaRPr lang="en-US" sz="800" dirty="0">
              <a:ea typeface="宋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7055504C-9860-4A04-831B-6356D5EAA2AE}"/>
              </a:ext>
            </a:extLst>
          </p:cNvPr>
          <p:cNvSpPr txBox="1">
            <a:spLocks/>
          </p:cNvSpPr>
          <p:nvPr/>
        </p:nvSpPr>
        <p:spPr bwMode="gray">
          <a:xfrm>
            <a:off x="-20618" y="0"/>
            <a:ext cx="2687618" cy="84271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9pPr>
          </a:lstStyle>
          <a:p>
            <a:endParaRPr lang="en-US" kern="0" baseline="30000" dirty="0">
              <a:latin typeface="+mn-lt"/>
            </a:endParaRPr>
          </a:p>
        </p:txBody>
      </p:sp>
      <p:pic>
        <p:nvPicPr>
          <p:cNvPr id="11" name="Picture 10" descr="A person with a mustache wearing a white shirt&#10;&#10;Description automatically generated">
            <a:extLst>
              <a:ext uri="{FF2B5EF4-FFF2-40B4-BE49-F238E27FC236}">
                <a16:creationId xmlns:a16="http://schemas.microsoft.com/office/drawing/2014/main" id="{93CA5BF8-6EF3-9379-212A-3356524A336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75" y="1027631"/>
            <a:ext cx="1111326" cy="1295478"/>
          </a:xfrm>
          <a:prstGeom prst="rect">
            <a:avLst/>
          </a:prstGeom>
        </p:spPr>
      </p:pic>
      <p:sp>
        <p:nvSpPr>
          <p:cNvPr id="6" name="AutoShape 7">
            <a:extLst>
              <a:ext uri="{FF2B5EF4-FFF2-40B4-BE49-F238E27FC236}">
                <a16:creationId xmlns:a16="http://schemas.microsoft.com/office/drawing/2014/main" id="{2FF18D32-CE23-496C-CAD5-9DBF77510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4310" y="4953594"/>
            <a:ext cx="1657155" cy="1218606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 algn="ctr">
            <a:solidFill>
              <a:srgbClr val="BBBB00"/>
            </a:solidFill>
            <a:round/>
            <a:headEnd/>
            <a:tailEnd type="none" w="med" len="lg"/>
          </a:ln>
        </p:spPr>
        <p:txBody>
          <a:bodyPr lIns="73152" tIns="82296" rIns="73152"/>
          <a:lstStyle/>
          <a:p>
            <a:pPr eaLnBrk="0" hangingPunct="0">
              <a:spcBef>
                <a:spcPct val="5000"/>
              </a:spcBef>
              <a:buClr>
                <a:schemeClr val="tx1"/>
              </a:buClr>
            </a:pPr>
            <a:r>
              <a:rPr lang="en-US" sz="1100" b="1" i="1" dirty="0">
                <a:latin typeface="Calibri" panose="020F0502020204030204" pitchFamily="34" charset="0"/>
                <a:cs typeface="Calibri" panose="020F0502020204030204" pitchFamily="34" charset="0"/>
              </a:rPr>
              <a:t>Tools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:</a:t>
            </a:r>
          </a:p>
          <a:p>
            <a:pPr marL="171450" indent="-171450" eaLnBrk="0" hangingPunct="0">
              <a:spcBef>
                <a:spcPct val="5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VS Code</a:t>
            </a:r>
          </a:p>
          <a:p>
            <a:pPr marL="171450" indent="-171450" eaLnBrk="0" hangingPunct="0">
              <a:spcBef>
                <a:spcPct val="5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Postman</a:t>
            </a:r>
          </a:p>
          <a:p>
            <a:pPr marL="171450" indent="-171450" eaLnBrk="0" hangingPunct="0">
              <a:spcBef>
                <a:spcPct val="5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MongoDB</a:t>
            </a:r>
          </a:p>
          <a:p>
            <a:pPr marL="171450" indent="-171450" eaLnBrk="0" hangingPunct="0">
              <a:spcBef>
                <a:spcPct val="5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Workbench</a:t>
            </a:r>
            <a:endParaRPr lang="en-US" sz="900" dirty="0">
              <a:ea typeface="宋体" pitchFamily="2" charset="-122"/>
            </a:endParaRPr>
          </a:p>
          <a:p>
            <a:pPr>
              <a:buSzPct val="100000"/>
            </a:pPr>
            <a:endParaRPr lang="en-US" sz="800" b="1" dirty="0">
              <a:ea typeface="宋体" pitchFamily="2" charset="-122"/>
            </a:endParaRPr>
          </a:p>
          <a:p>
            <a:pPr marL="171450" indent="-171450">
              <a:buSzPct val="100000"/>
              <a:buFont typeface="Wingdings" pitchFamily="2" charset="2"/>
              <a:buChar char="§"/>
            </a:pPr>
            <a:endParaRPr lang="en-US" sz="800" dirty="0">
              <a:ea typeface="宋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6807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P5O6CUCSCWAnq.BBwxGsw"/>
</p:tagLst>
</file>

<file path=ppt/theme/theme1.xml><?xml version="1.0" encoding="utf-8"?>
<a:theme xmlns:a="http://schemas.openxmlformats.org/drawingml/2006/main" name="14_Accenture_Tiger_RightLeftBrain_animate_Title">
  <a:themeElements>
    <a:clrScheme name="Accenture_Tiger_RightLeftBrain_animate_Title 3">
      <a:dk1>
        <a:srgbClr val="000000"/>
      </a:dk1>
      <a:lt1>
        <a:srgbClr val="FFFFFF"/>
      </a:lt1>
      <a:dk2>
        <a:srgbClr val="F8F8F8"/>
      </a:dk2>
      <a:lt2>
        <a:srgbClr val="C0C0C0"/>
      </a:lt2>
      <a:accent1>
        <a:srgbClr val="AA1133"/>
      </a:accent1>
      <a:accent2>
        <a:srgbClr val="66AA44"/>
      </a:accent2>
      <a:accent3>
        <a:srgbClr val="FFFFFF"/>
      </a:accent3>
      <a:accent4>
        <a:srgbClr val="000000"/>
      </a:accent4>
      <a:accent5>
        <a:srgbClr val="D2AAAD"/>
      </a:accent5>
      <a:accent6>
        <a:srgbClr val="5C9A3D"/>
      </a:accent6>
      <a:hlink>
        <a:srgbClr val="887799"/>
      </a:hlink>
      <a:folHlink>
        <a:srgbClr val="224433"/>
      </a:folHlink>
    </a:clrScheme>
    <a:fontScheme name="Accenture_Tiger_RightLeftBrain_animate_Titl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C0C0C0"/>
            </a:gs>
            <a:gs pos="100000">
              <a:schemeClr val="bg1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C0C0C0"/>
            </a:gs>
            <a:gs pos="100000">
              <a:schemeClr val="bg1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Accenture_Tiger_RightLeftBrain_animate_Title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nture_Tiger_RightLeftBrain_animate_Title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AA99"/>
        </a:accent1>
        <a:accent2>
          <a:srgbClr val="DD4411"/>
        </a:accent2>
        <a:accent3>
          <a:srgbClr val="FFFFFF"/>
        </a:accent3>
        <a:accent4>
          <a:srgbClr val="000000"/>
        </a:accent4>
        <a:accent5>
          <a:srgbClr val="AAD2CA"/>
        </a:accent5>
        <a:accent6>
          <a:srgbClr val="C83D0E"/>
        </a:accent6>
        <a:hlink>
          <a:srgbClr val="BBBB00"/>
        </a:hlink>
        <a:folHlink>
          <a:srgbClr val="66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nture_Tiger_RightLeftBrain_animate_Title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AA1133"/>
        </a:accent1>
        <a:accent2>
          <a:srgbClr val="66AA44"/>
        </a:accent2>
        <a:accent3>
          <a:srgbClr val="FFFFFF"/>
        </a:accent3>
        <a:accent4>
          <a:srgbClr val="000000"/>
        </a:accent4>
        <a:accent5>
          <a:srgbClr val="D2AAAD"/>
        </a:accent5>
        <a:accent6>
          <a:srgbClr val="5C9A3D"/>
        </a:accent6>
        <a:hlink>
          <a:srgbClr val="887799"/>
        </a:hlink>
        <a:folHlink>
          <a:srgbClr val="2244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nture_Tiger_RightLeftBrain_animate_Title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00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8A00"/>
        </a:accent6>
        <a:hlink>
          <a:srgbClr val="557799"/>
        </a:hlink>
        <a:folHlink>
          <a:srgbClr val="44551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2292</TotalTime>
  <Words>356</Words>
  <Application>Microsoft Office PowerPoint</Application>
  <PresentationFormat>On-screen Show (4:3)</PresentationFormat>
  <Paragraphs>94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宋体</vt:lpstr>
      <vt:lpstr>Arial</vt:lpstr>
      <vt:lpstr>Calibri</vt:lpstr>
      <vt:lpstr>Wingdings</vt:lpstr>
      <vt:lpstr>14_Accenture_Tiger_RightLeftBrain_animate_Title</vt:lpstr>
      <vt:lpstr>think-cell Slide</vt:lpstr>
      <vt:lpstr> </vt:lpstr>
    </vt:vector>
  </TitlesOfParts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Rishi Gupta</dc:creator>
  <cp:lastModifiedBy>Penugonda, Manoj Sai</cp:lastModifiedBy>
  <cp:revision>329</cp:revision>
  <dcterms:created xsi:type="dcterms:W3CDTF">2015-01-08T09:12:54Z</dcterms:created>
  <dcterms:modified xsi:type="dcterms:W3CDTF">2025-06-10T10:11:26Z</dcterms:modified>
</cp:coreProperties>
</file>